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shu2sh-hub/First-Calculator" TargetMode="External"/><Relationship Id="rId3" Type="http://schemas.openxmlformats.org/officeDocument/2006/relationships/hyperlink" Target="https://ashu2sh-hub.github.io/First-Calculator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3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ilm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051560" cy="1169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481328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IILM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CBD6EB"/>
                </a:solidFill>
                <a:latin typeface="Aptos"/>
              </a:rPr>
              <a:t>Greater Noida,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024128"/>
            <a:ext cx="6309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2A63DC"/>
                </a:solidFill>
                <a:latin typeface="Aptos"/>
              </a:rPr>
              <a:t>CODE-ALPHA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527048"/>
            <a:ext cx="662940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0C1426"/>
                </a:solidFill>
                <a:latin typeface="Aptos"/>
              </a:rPr>
              <a:t>FRONT-END DEVELOPMENT
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953512"/>
            <a:ext cx="5669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B6980"/>
                </a:solidFill>
                <a:latin typeface="Aptos"/>
              </a:rPr>
              <a:t>Internship Report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3566160"/>
            <a:ext cx="804672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3616452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566160"/>
            <a:ext cx="804672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3616452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566160"/>
            <a:ext cx="804672" cy="329184"/>
          </a:xfrm>
          <a:prstGeom prst="roundRect">
            <a:avLst>
              <a:gd name="adj" fmla="val 8000"/>
            </a:avLst>
          </a:prstGeom>
          <a:solidFill>
            <a:srgbClr val="FFEFF1"/>
          </a:solidFill>
          <a:ln w="12700">
            <a:solidFill>
              <a:srgbClr val="FF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3616452"/>
            <a:ext cx="6583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B11C2B"/>
                </a:solidFill>
                <a:latin typeface="Aptos"/>
              </a:rPr>
              <a:t>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617720"/>
            <a:ext cx="6126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32243"/>
                </a:solidFill>
                <a:latin typeface="Aptos"/>
              </a:rPr>
              <a:t>ASHUTOSH SAHOO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047488"/>
            <a:ext cx="6126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D3A50"/>
                </a:solidFill>
                <a:latin typeface="Aptos"/>
              </a:rPr>
              <a:t>B.Tech CSE  •  Batch 2025–29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431536"/>
            <a:ext cx="62179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5B6980"/>
                </a:solidFill>
                <a:latin typeface="Aptos"/>
              </a:rPr>
              <a:t>School of Computer Science and Engineering
IILM University, Greater Noida, U.P.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6199632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B6980"/>
                </a:solidFill>
                <a:latin typeface="Aptos"/>
              </a:rPr>
              <a:t>Roll No.: [25SCS1003004011]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6199632"/>
            <a:ext cx="1097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1" i="0">
                <a:solidFill>
                  <a:srgbClr val="132243"/>
                </a:solidFill>
                <a:latin typeface="Aptos"/>
              </a:rPr>
              <a:t>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Candidate &amp; Internship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50876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08760"/>
            <a:ext cx="50292" cy="338328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91639"/>
            <a:ext cx="49834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Candidate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03120"/>
            <a:ext cx="4983479" cy="2670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Student Name: ASHUTOSH SAHOO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Roll Number: [25SCS1003004011]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Degree: B.Tech (Computer Science &amp; Engineering)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Academic Batch: 2026–2027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University: IILM University, Greater Noida, U.P.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3492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508760"/>
            <a:ext cx="50292" cy="338328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49834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Internship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83479" cy="2670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Organization: CodeAlpha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Program: Frontend Development Internship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Core Technologies: HTML, CSS, JavaScript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Completed Projects: 2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Internship Period: 10 August 2026 – 10 September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230368"/>
            <a:ext cx="1965960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80659"/>
            <a:ext cx="18196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Task-based practical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5230368"/>
            <a:ext cx="1600200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5280659"/>
            <a:ext cx="14538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2 completed 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5230368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5280659"/>
            <a:ext cx="17282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GitHub + GitHub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About CodeAlpha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5B6980"/>
                </a:solidFill>
                <a:latin typeface="Aptos"/>
              </a:rPr>
              <a:t>Internship context and practical learning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36576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0292" cy="425196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00200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Internship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3291840" cy="3538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CodeAlpha provided a mini, task-based frontend development internship.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The work focused on applying core web technologies through practical projects.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The internship emphasized building complete browser-based interfaces rather than isolated exercises.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4290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50292" cy="425196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00200"/>
            <a:ext cx="3063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Work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11680"/>
            <a:ext cx="3063240" cy="3538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Frontend interface development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Responsive layouts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JavaScript-based interaction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Basic project organization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Repository and static deployment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417320"/>
            <a:ext cx="3529584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9288" y="1417320"/>
            <a:ext cx="50292" cy="425196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600200"/>
            <a:ext cx="316382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Delivery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011680"/>
            <a:ext cx="3163824" cy="3538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Build the interface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Style and refine the layout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Add interaction with JavaScript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Test the result</a:t>
            </a:r>
          </a:p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Publish through GitHub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Internship Context &amp; Practical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D3A50"/>
                </a:solidFill>
                <a:latin typeface="Aptos"/>
              </a:rPr>
              <a:t>The central learning challenge was to combine HTML, CSS and JavaScript into usable, responsive web interfaces.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51176"/>
            <a:ext cx="1408176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HTML / CSS / JS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04288" y="2852928"/>
            <a:ext cx="685800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63240" y="242316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2551176"/>
            <a:ext cx="1408176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Practical
implementation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6008" y="2852928"/>
            <a:ext cx="685800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242316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2551176"/>
            <a:ext cx="1408176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Responsive &amp;
interactive UI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67728" y="2852928"/>
            <a:ext cx="685800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79" y="242316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2551176"/>
            <a:ext cx="1408176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GitHub
repository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99448" y="2852928"/>
            <a:ext cx="685800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242316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31552" y="2551176"/>
            <a:ext cx="1408176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Live
GitHub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86200"/>
            <a:ext cx="4892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886200"/>
            <a:ext cx="50292" cy="150876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069080"/>
            <a:ext cx="45262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480560"/>
            <a:ext cx="4526279" cy="79552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First-Calculator established core structure, styling and JavaScript interaction.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3886200"/>
            <a:ext cx="4892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3886200"/>
            <a:ext cx="50292" cy="150876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45262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80560"/>
            <a:ext cx="4526279" cy="79552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3A50"/>
                </a:solidFill>
                <a:latin typeface="Aptos"/>
              </a:defRPr>
            </a:pPr>
            <a:r>
              <a:t>Lumina-Image-gallery extended the work into filtering, navigation and richer visual interaction.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Internship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34015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8191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57276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243"/>
                </a:solidFill>
                <a:latin typeface="Aptos"/>
              </a:rPr>
              <a:t>HTML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39112"/>
            <a:ext cx="29443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A50"/>
                </a:solidFill>
                <a:latin typeface="Aptos"/>
              </a:rPr>
              <a:t>Build clear browser-based page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4015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8191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57276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243"/>
                </a:solidFill>
                <a:latin typeface="Aptos"/>
              </a:rPr>
              <a:t>CSS &amp; Responsiveness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39112"/>
            <a:ext cx="29443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A50"/>
                </a:solidFill>
                <a:latin typeface="Aptos"/>
              </a:rPr>
              <a:t>Create clean layouts that adapt across screen sizes.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417320"/>
            <a:ext cx="34015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158191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57276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243"/>
                </a:solidFill>
                <a:latin typeface="Aptos"/>
              </a:rPr>
              <a:t>JavaScript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39112"/>
            <a:ext cx="29443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A50"/>
                </a:solidFill>
                <a:latin typeface="Aptos"/>
              </a:rPr>
              <a:t>Implement functional user interactions.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34015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372160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243"/>
                </a:solidFill>
                <a:latin typeface="Aptos"/>
              </a:rPr>
              <a:t>Interactive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187952"/>
            <a:ext cx="29443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A50"/>
                </a:solidFill>
                <a:latin typeface="Aptos"/>
              </a:rPr>
              <a:t>Build calculator and gallery interfaces.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66160"/>
            <a:ext cx="34015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73075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72160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243"/>
                </a:solidFill>
                <a:latin typeface="Aptos"/>
              </a:rPr>
              <a:t>GitHub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87952"/>
            <a:ext cx="29443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A50"/>
                </a:solidFill>
                <a:latin typeface="Aptos"/>
              </a:rPr>
              <a:t>Organize and publish project repositories.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3566160"/>
            <a:ext cx="34015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3730752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21608"/>
            <a:ext cx="2423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243"/>
                </a:solidFill>
                <a:latin typeface="Aptos"/>
              </a:rPr>
              <a:t>Static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87952"/>
            <a:ext cx="2944368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 i="0">
                <a:solidFill>
                  <a:srgbClr val="2D3A50"/>
                </a:solidFill>
                <a:latin typeface="Aptos"/>
              </a:rPr>
              <a:t>Deploy completed projects using GitHub Pages.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Technologies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5B6980"/>
                </a:solidFill>
                <a:latin typeface="Aptos"/>
              </a:rPr>
              <a:t>A deliberately simple stack focused on core frontend fundamentals.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40156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57400"/>
            <a:ext cx="2926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2243"/>
                </a:solidFill>
                <a:latin typeface="Aptos"/>
              </a:rP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51760"/>
            <a:ext cx="2926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A50"/>
                </a:solidFill>
                <a:latin typeface="Aptos"/>
              </a:rPr>
              <a:t>Page structure and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83080"/>
            <a:ext cx="340156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057400"/>
            <a:ext cx="2926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2243"/>
                </a:solidFill>
                <a:latin typeface="Apto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651760"/>
            <a:ext cx="2926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A50"/>
                </a:solidFill>
                <a:latin typeface="Aptos"/>
              </a:rPr>
              <a:t>Styling, layout and responsiveness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783080"/>
            <a:ext cx="340156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057400"/>
            <a:ext cx="2926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32243"/>
                </a:solidFill>
                <a:latin typeface="Aptos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651760"/>
            <a:ext cx="29260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D3A50"/>
                </a:solidFill>
                <a:latin typeface="Aptos"/>
              </a:rPr>
              <a:t>Interaction and DOM-driven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041648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Development &amp; Hosting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98848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498848"/>
            <a:ext cx="50292" cy="123444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681728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093208"/>
            <a:ext cx="4892040" cy="5212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Public repository management and README documentation.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4498848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4498848"/>
            <a:ext cx="50292" cy="123444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4681728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GitHub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5093208"/>
            <a:ext cx="4892040" cy="5212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Static deployment for publicly accessible project websites.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Frontend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20" b="0" i="0">
                <a:solidFill>
                  <a:srgbClr val="5B6980"/>
                </a:solidFill>
                <a:latin typeface="Aptos"/>
              </a:rPr>
              <a:t>Both projects follow a lightweight browser-based architecture with no backend or database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39696"/>
            <a:ext cx="1636776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User 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2468880"/>
            <a:ext cx="283464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20116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2139696"/>
            <a:ext cx="1636776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HTML Structure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90288" y="2468880"/>
            <a:ext cx="283464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92040" y="20116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139696"/>
            <a:ext cx="1636776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CSS Styling
&amp; Responsive Layout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93407" y="2468880"/>
            <a:ext cx="283464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95160" y="20116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2139696"/>
            <a:ext cx="1636776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JavaScript
Interaction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96528" y="2468880"/>
            <a:ext cx="283464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98280" y="20116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139696"/>
            <a:ext cx="1636776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Browser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8862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4014215"/>
            <a:ext cx="2551176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32243"/>
                </a:solidFill>
                <a:latin typeface="Aptos"/>
              </a:rPr>
              <a:t>GitHub Repository
+ GitHub Pages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446520" y="2926080"/>
            <a:ext cx="3566160" cy="91440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28523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32243"/>
                </a:solidFill>
                <a:latin typeface="Aptos"/>
              </a:rPr>
              <a:t>Project-specific behaviour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623560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673852"/>
            <a:ext cx="12710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Calculator logic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5623560"/>
            <a:ext cx="1508760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5673852"/>
            <a:ext cx="13624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Gallery filtering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5072" y="5623560"/>
            <a:ext cx="1572768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4" y="5673852"/>
            <a:ext cx="142646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Image navigation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5623560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5673852"/>
            <a:ext cx="127101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32243"/>
                </a:solidFill>
                <a:latin typeface="Aptos"/>
              </a:rPr>
              <a:t>Responsive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Project 1 — First-Calculator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6858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D3A50"/>
                </a:solidFill>
                <a:latin typeface="Aptos"/>
              </a:rPr>
              <a:t>A responsive and minimalist calculator built with HTML, CSS and JavaScript.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4617720" cy="3611880"/>
          </a:xfrm>
          <a:prstGeom prst="roundRect">
            <a:avLst>
              <a:gd name="adj" fmla="val 8000"/>
            </a:avLst>
          </a:prstGeom>
          <a:solidFill>
            <a:srgbClr val="132243"/>
          </a:solidFill>
          <a:ln w="12700">
            <a:solidFill>
              <a:srgbClr val="132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29968"/>
            <a:ext cx="4069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FIRST-CALCULATOR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2606040"/>
            <a:ext cx="36118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761488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800" b="1" i="0">
                <a:solidFill>
                  <a:srgbClr val="132243"/>
                </a:solidFill>
                <a:latin typeface="Aptos"/>
              </a:rPr>
              <a:t>12 × 8 = 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70432" y="3456432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529584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66543" y="3456432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3" y="3529584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3456432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3529584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3456432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3529584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" y="3977639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050791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66543" y="3977639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66543" y="4050791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2656" y="3977639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2656" y="4050791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58768" y="3977639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4050791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0432" y="4498848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457200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66543" y="4498848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66543" y="457200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62656" y="4498848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62656" y="457200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58768" y="4498848"/>
            <a:ext cx="713232" cy="393192"/>
          </a:xfrm>
          <a:prstGeom prst="roundRect">
            <a:avLst>
              <a:gd name="adj" fmla="val 8000"/>
            </a:avLst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8768" y="457200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=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1755648"/>
            <a:ext cx="5925312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23560" y="1755648"/>
            <a:ext cx="50292" cy="192024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8" y="1938528"/>
            <a:ext cx="55595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What was implemented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24728" y="2350008"/>
            <a:ext cx="5559552" cy="12070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70">
                <a:solidFill>
                  <a:srgbClr val="2D3A50"/>
                </a:solidFill>
                <a:latin typeface="Aptos"/>
              </a:defRPr>
            </a:pPr>
            <a:r>
              <a:t>Responsive calculator interface</a:t>
            </a:r>
          </a:p>
          <a:p>
            <a:pPr>
              <a:spcAft>
                <a:spcPts val="500"/>
              </a:spcAft>
              <a:defRPr sz="1170">
                <a:solidFill>
                  <a:srgbClr val="2D3A50"/>
                </a:solidFill>
                <a:latin typeface="Aptos"/>
              </a:defRPr>
            </a:pPr>
            <a:r>
              <a:t>HTML structure and CSS styling</a:t>
            </a:r>
          </a:p>
          <a:p>
            <a:pPr>
              <a:spcAft>
                <a:spcPts val="500"/>
              </a:spcAft>
              <a:defRPr sz="1170">
                <a:solidFill>
                  <a:srgbClr val="2D3A50"/>
                </a:solidFill>
                <a:latin typeface="Aptos"/>
              </a:defRPr>
            </a:pPr>
            <a:r>
              <a:t>JavaScript interaction and calculation behaviour</a:t>
            </a:r>
          </a:p>
          <a:p>
            <a:pPr>
              <a:spcAft>
                <a:spcPts val="500"/>
              </a:spcAft>
              <a:defRPr sz="1170">
                <a:solidFill>
                  <a:srgbClr val="2D3A50"/>
                </a:solidFill>
                <a:latin typeface="Aptos"/>
              </a:defRPr>
            </a:pPr>
            <a:r>
              <a:t>Basic responsive frontend layout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3822191"/>
            <a:ext cx="5925312" cy="1545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3822191"/>
            <a:ext cx="50292" cy="1545336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4005072"/>
            <a:ext cx="55595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4728" y="4416552"/>
            <a:ext cx="5559552" cy="832103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D3A50"/>
                </a:solidFill>
                <a:latin typeface="Aptos"/>
              </a:defRPr>
            </a:pPr>
            <a:r>
              <a:t>Public GitHub repository • README.md • GitHub Pages deployment</a:t>
            </a:r>
          </a:p>
          <a:p>
            <a:pPr>
              <a:spcAft>
                <a:spcPts val="500"/>
              </a:spcAft>
              <a:defRPr sz="1130">
                <a:solidFill>
                  <a:srgbClr val="2D3A50"/>
                </a:solidFill>
                <a:latin typeface="Aptos"/>
              </a:defRPr>
            </a:pPr>
            <a:r>
              <a:t>The main HTML file was renamed to index.html for GitHub Pages.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715000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32243"/>
                </a:solidFill>
                <a:latin typeface="Aptos"/>
              </a:rPr>
              <a:t>GitHub: ashu2sh-hub/First-Calculator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715000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A63DC"/>
                </a:solidFill>
                <a:latin typeface="Aptos"/>
              </a:rPr>
              <a:t>Live: ashu2sh-hub.github.io/First-Calculator/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Project 2 — Lumina-Image-gallery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D3A50"/>
                </a:solidFill>
                <a:latin typeface="Aptos"/>
              </a:rPr>
              <a:t>A responsive minimalist image gallery showcasing curated photography.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4800600" cy="3886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05740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05456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CARS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205740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DE7F3"/>
          </a:solidFill>
          <a:ln w="12700">
            <a:solidFill>
              <a:srgbClr val="ED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2505456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FLOWERS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65760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2EFEB"/>
          </a:solidFill>
          <a:ln w="12700">
            <a:solidFill>
              <a:srgbClr val="E2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05656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32243"/>
                </a:solidFill>
                <a:latin typeface="Aptos"/>
              </a:rPr>
              <a:t>LANDSCAPES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4251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Unsplash photography • category-based gallery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2432" y="1737360"/>
            <a:ext cx="58064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42432" y="1737360"/>
            <a:ext cx="50292" cy="224028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54406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Key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31720"/>
            <a:ext cx="5440679" cy="1527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Cars, Flowers and Landscapes categories</a:t>
            </a:r>
          </a:p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Category filtering and navigation</a:t>
            </a:r>
          </a:p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Enlarged / lightbox-style image viewing</a:t>
            </a:r>
          </a:p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Previous / next image navigation</a:t>
            </a:r>
          </a:p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Hover effects, smooth transitions and responsive behaviour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4160520"/>
            <a:ext cx="5806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42432" y="4160520"/>
            <a:ext cx="50292" cy="146304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343400"/>
            <a:ext cx="544067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5440679" cy="7498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2D3A50"/>
                </a:solidFill>
                <a:latin typeface="Aptos"/>
              </a:defRPr>
            </a:pPr>
            <a:r>
              <a:t>Public GitHub repository • index.html • style.css • script.js • README.md</a:t>
            </a:r>
          </a:p>
          <a:p>
            <a:pPr>
              <a:spcAft>
                <a:spcPts val="500"/>
              </a:spcAft>
              <a:defRPr sz="1120">
                <a:solidFill>
                  <a:srgbClr val="2D3A50"/>
                </a:solidFill>
                <a:latin typeface="Aptos"/>
              </a:defRPr>
            </a:pPr>
            <a:r>
              <a:t>Published as a live static website using GitHub Pages.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70448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1" i="0">
                <a:solidFill>
                  <a:srgbClr val="132243"/>
                </a:solidFill>
                <a:latin typeface="Aptos"/>
                <a:hlinkClick r:id="rId2"/>
              </a:rPr>
              <a:t>GitHub: ashu2sh-hub/Lumina-Image-gallery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5870448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30" b="1" i="0">
                <a:solidFill>
                  <a:srgbClr val="2A63DC"/>
                </a:solidFill>
                <a:latin typeface="Aptos"/>
                <a:hlinkClick r:id="rId3"/>
              </a:rPr>
              <a:t>Live: ashu2sh-hub.github.io/Lumina-Image-gallery/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Development Methodology &amp; Progression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20" b="0" i="0">
                <a:solidFill>
                  <a:srgbClr val="5B6980"/>
                </a:solidFill>
                <a:latin typeface="Aptos"/>
              </a:rPr>
              <a:t>A practical workflow was repeated across both projects, with the second project introducing richer UI behaviour.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57276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202996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63D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40487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32243"/>
                </a:solidFill>
                <a:latin typeface="Aptos"/>
              </a:rPr>
              <a:t>Understand task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984" y="2459736"/>
            <a:ext cx="256032" cy="0"/>
          </a:xfrm>
          <a:prstGeom prst="line">
            <a:avLst/>
          </a:prstGeom>
          <a:ln w="1905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2" y="1874519"/>
            <a:ext cx="157276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02996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63D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0487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32243"/>
                </a:solidFill>
                <a:latin typeface="Aptos"/>
              </a:rPr>
              <a:t>Build HTML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41648" y="2459736"/>
            <a:ext cx="256032" cy="0"/>
          </a:xfrm>
          <a:prstGeom prst="line">
            <a:avLst/>
          </a:prstGeom>
          <a:ln w="1905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34256" y="1874519"/>
            <a:ext cx="157276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02996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63D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40487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32243"/>
                </a:solidFill>
                <a:latin typeface="Aptos"/>
              </a:rPr>
              <a:t>Style with CSS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25312" y="2459736"/>
            <a:ext cx="256032" cy="0"/>
          </a:xfrm>
          <a:prstGeom prst="line">
            <a:avLst/>
          </a:prstGeom>
          <a:ln w="1905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1874519"/>
            <a:ext cx="157276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02996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63D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0487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32243"/>
                </a:solidFill>
                <a:latin typeface="Aptos"/>
              </a:rPr>
              <a:t>Add JavaScript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08975" y="2459736"/>
            <a:ext cx="256033" cy="0"/>
          </a:xfrm>
          <a:prstGeom prst="line">
            <a:avLst/>
          </a:prstGeom>
          <a:ln w="1905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01583" y="1874519"/>
            <a:ext cx="157276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02996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63D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1" y="240487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32243"/>
                </a:solidFill>
                <a:latin typeface="Aptos"/>
              </a:rPr>
              <a:t>Test &amp; refine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92640" y="2459736"/>
            <a:ext cx="256032" cy="0"/>
          </a:xfrm>
          <a:prstGeom prst="line">
            <a:avLst/>
          </a:prstGeom>
          <a:ln w="1905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85248" y="1874519"/>
            <a:ext cx="1572768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4976" y="2029968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63DC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2404872"/>
            <a:ext cx="13533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 i="0">
                <a:solidFill>
                  <a:srgbClr val="132243"/>
                </a:solidFill>
                <a:latin typeface="Aptos"/>
              </a:rPr>
              <a:t>GitHub +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70332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DEVELOPMENT PROGRESSION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87952"/>
            <a:ext cx="52303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187952"/>
            <a:ext cx="50292" cy="137160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370832"/>
            <a:ext cx="4864607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1  •  First-Calculator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782312"/>
            <a:ext cx="4864607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70">
                <a:solidFill>
                  <a:srgbClr val="2D3A50"/>
                </a:solidFill>
                <a:latin typeface="Aptos"/>
              </a:defRPr>
            </a:pPr>
            <a:r>
              <a:t>Core functionality → HTML/CSS structure → JavaScript interaction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07608" y="4873752"/>
            <a:ext cx="438912" cy="0"/>
          </a:xfrm>
          <a:prstGeom prst="line">
            <a:avLst/>
          </a:prstGeom>
          <a:ln w="25400">
            <a:solidFill>
              <a:srgbClr val="2A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01968" y="4187952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01968" y="4187952"/>
            <a:ext cx="50292" cy="137160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3136" y="437083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2  •  Lumina-Image-gallery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3136" y="4782312"/>
            <a:ext cx="457200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D3A50"/>
                </a:solidFill>
                <a:latin typeface="Aptos"/>
              </a:defRPr>
            </a:pPr>
            <a:r>
              <a:t>Responsive visual presentation → filtering → navigation → image viewing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Skills Demonstrated &amp;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184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HTML5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Page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184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CSS3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Layout &amp; styling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184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Responsive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1031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Screen-size adaptation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4173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144" y="16184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21031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UI interaction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175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186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DOM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7033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Dynamic interface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0175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2186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Filtering &amp;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7033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Gallery interaction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0175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2186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7033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Repository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3017520"/>
            <a:ext cx="25420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3218688"/>
            <a:ext cx="226771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132243"/>
                </a:solidFill>
                <a:latin typeface="Aptos"/>
              </a:rPr>
              <a:t>GitHub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3703320"/>
            <a:ext cx="22677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980"/>
                </a:solidFill>
                <a:latin typeface="Aptos"/>
              </a:rPr>
              <a:t>Static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828032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63DC"/>
                </a:solidFill>
                <a:latin typeface="Aptos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773168"/>
            <a:ext cx="99212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2D3A50"/>
                </a:solidFill>
                <a:latin typeface="Aptos"/>
              </a:rPr>
              <a:t>The internship strengthened the ability to turn basic frontend concepts into small, complete and publicly accessible web projects.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0C1426"/>
                </a:solidFill>
                <a:latin typeface="Aptos"/>
              </a:rPr>
              <a:t>Certification &amp; Internship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18520" cy="32004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Official CodeAlpha Certificate of Completion</a:t>
            </a:r>
          </a:p>
        </p:txBody>
      </p:sp>
      <p:pic>
        <p:nvPicPr>
          <p:cNvPr id="5" name="Picture 4" descr="certificat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629400" cy="46847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572768"/>
            <a:ext cx="391363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572768"/>
            <a:ext cx="50292" cy="3246120"/>
          </a:xfrm>
          <a:prstGeom prst="rect">
            <a:avLst/>
          </a:prstGeom>
          <a:solidFill>
            <a:srgbClr val="B1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755648"/>
            <a:ext cx="35478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Certificate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167128"/>
            <a:ext cx="3547872" cy="253288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70">
                <a:solidFill>
                  <a:srgbClr val="2D3A50"/>
                </a:solidFill>
                <a:latin typeface="Aptos"/>
              </a:defRPr>
            </a:pPr>
            <a:r>
              <a:t>Student: Ashutosh Sahoo</a:t>
            </a:r>
          </a:p>
          <a:p>
            <a:pPr>
              <a:spcAft>
                <a:spcPts val="500"/>
              </a:spcAft>
              <a:defRPr sz="1070">
                <a:solidFill>
                  <a:srgbClr val="2D3A50"/>
                </a:solidFill>
                <a:latin typeface="Aptos"/>
              </a:defRPr>
            </a:pPr>
            <a:r>
              <a:t>Student ID: CA/DF1/237853</a:t>
            </a:r>
          </a:p>
          <a:p>
            <a:pPr>
              <a:spcAft>
                <a:spcPts val="500"/>
              </a:spcAft>
              <a:defRPr sz="1070">
                <a:solidFill>
                  <a:srgbClr val="2D3A50"/>
                </a:solidFill>
                <a:latin typeface="Aptos"/>
              </a:defRPr>
            </a:pPr>
            <a:r>
              <a:t>Program: CodeAlpha Virtual Internship Program</a:t>
            </a:r>
          </a:p>
          <a:p>
            <a:pPr>
              <a:spcAft>
                <a:spcPts val="500"/>
              </a:spcAft>
              <a:defRPr sz="1070">
                <a:solidFill>
                  <a:srgbClr val="2D3A50"/>
                </a:solidFill>
                <a:latin typeface="Aptos"/>
              </a:defRPr>
            </a:pPr>
            <a:r>
              <a:t>Specialization: Frontend Development Internship</a:t>
            </a:r>
          </a:p>
          <a:p>
            <a:pPr>
              <a:spcAft>
                <a:spcPts val="500"/>
              </a:spcAft>
              <a:defRPr sz="1070">
                <a:solidFill>
                  <a:srgbClr val="2D3A50"/>
                </a:solidFill>
                <a:latin typeface="Aptos"/>
              </a:defRPr>
            </a:pPr>
            <a:r>
              <a:t>Period: 10 August 2026 – 10 September 2026</a:t>
            </a:r>
          </a:p>
          <a:p>
            <a:pPr>
              <a:spcAft>
                <a:spcPts val="500"/>
              </a:spcAft>
              <a:defRPr sz="1070">
                <a:solidFill>
                  <a:srgbClr val="2D3A50"/>
                </a:solidFill>
                <a:latin typeface="Aptos"/>
              </a:defRPr>
            </a:pPr>
            <a:r>
              <a:t>Issue Date: 11 September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5047488"/>
            <a:ext cx="39136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5047488"/>
            <a:ext cx="50292" cy="822960"/>
          </a:xfrm>
          <a:prstGeom prst="rect">
            <a:avLst/>
          </a:prstGeom>
          <a:solidFill>
            <a:srgbClr val="2A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5230368"/>
            <a:ext cx="35478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243"/>
                </a:solidFill>
                <a:latin typeface="Aptos"/>
              </a:rPr>
              <a:t>Project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5641848"/>
            <a:ext cx="3547872" cy="1097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2D3A50"/>
                </a:solidFill>
                <a:latin typeface="Aptos"/>
              </a:defRPr>
            </a:pPr>
            <a:r>
              <a:t>2 public GitHub repositories + live GitHub Pages websites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5B69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lm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051560" cy="11699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874519"/>
            <a:ext cx="108813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CCD8EE"/>
                </a:solidFill>
                <a:latin typeface="Aptos"/>
              </a:rPr>
              <a:t>CodeAlpha Frontend Development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03320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ASHUTOSH SAHOO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0" i="0">
                <a:solidFill>
                  <a:srgbClr val="CCD8EE"/>
                </a:solidFill>
                <a:latin typeface="Aptos"/>
              </a:rPr>
              <a:t>B.Tech CSE  •  IILM University, Greater Noida, U.P.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074920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22365D"/>
          </a:solidFill>
          <a:ln w="12700">
            <a:solidFill>
              <a:srgbClr val="22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5125212"/>
            <a:ext cx="15453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First-Calculator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074920"/>
            <a:ext cx="2240280" cy="329184"/>
          </a:xfrm>
          <a:prstGeom prst="roundRect">
            <a:avLst>
              <a:gd name="adj" fmla="val 8000"/>
            </a:avLst>
          </a:prstGeom>
          <a:solidFill>
            <a:srgbClr val="22365D"/>
          </a:solidFill>
          <a:ln w="12700">
            <a:solidFill>
              <a:srgbClr val="22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5125212"/>
            <a:ext cx="20939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Lumina-Image-gallery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89788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A0B2D2"/>
                </a:solidFill>
                <a:latin typeface="Aptos"/>
              </a:rPr>
              <a:t>[25SCS1003004011]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B2D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